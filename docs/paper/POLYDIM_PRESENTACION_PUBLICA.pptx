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POLYDIM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AFF"/>
                </a:solidFill>
              </a:rPr>
              <a:t>El lenguaje de programación
de la era de la Inteligencia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702552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BBCC"/>
                </a:solidFill>
              </a:rPr>
              <a:t>Ariel H. Garcia Traba  ·  Buenos Aires, Argentina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El problema que nadie había nombrado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303520" cy="4754880"/>
          </a:xfrm>
          <a:prstGeom prst="rect">
            <a:avLst/>
          </a:prstGeom>
          <a:solidFill>
            <a:srgbClr val="1E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42"/>
                </a:solidFill>
              </a:rPr>
              <a:t>La IA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🧠  Piensa en 10.000 dimensiones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simultáneas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💬  Pero habla por texto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letra por letra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📉  Pierde el 99,9% de información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en cada mensaje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5C542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280160"/>
            <a:ext cx="5303520" cy="475488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42"/>
                </a:solidFill>
              </a:rPr>
              <a:t>Con POLYDIM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🎯  La IA habla en su propio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lenguaje geométrico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⚡  24× más rápido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(medido en laboratorio)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✅  Cero pérdida de información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    entre agentes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La analogía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4114800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42"/>
                </a:solidFill>
              </a:rPr>
              <a:t>Años 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Los transistores ya hacían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aritmética binaria.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Pero no había forma de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programarlos con intención.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→ Se inventó el ENSAMBLADOR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   y todo cambió.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C542"/>
                </a:solidFill>
              </a:rPr>
              <a:t>=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114800"/>
          </a:xfrm>
          <a:prstGeom prst="rect">
            <a:avLst/>
          </a:prstGeom>
          <a:solidFill>
            <a:srgbClr val="1A1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42"/>
                </a:solidFill>
              </a:rPr>
              <a:t>Año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Los transformers ya operan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en geometría multidimensional.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Pero no hay forma de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programarla con intención.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→ Se inventó POLYDIM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E8EAFF"/>
                </a:solidFill>
              </a:rPr>
              <a:t>   y todo cambia.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POLYDIM es al transformer lo que el ensamblador fue al transistor.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El gesto vs. el emoji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solidFill>
            <a:srgbClr val="181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42"/>
                </a:solidFill>
              </a:rPr>
              <a:t>GESTO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1.000+ dimensiones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Información completa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Matices, contexto, intención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= Lo que la IA piensa realmente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5029200"/>
          </a:xfrm>
          <a:prstGeom prst="rect">
            <a:avLst/>
          </a:prstGeom>
          <a:solidFill>
            <a:srgbClr val="35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7744"/>
                </a:solidFill>
              </a:rPr>
              <a:t>EMOJI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175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2 dimensiones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Información comprimida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Simplificada, ambigua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8EAFF"/>
                </a:solidFill>
              </a:rPr>
              <a:t>= Lo que el texto puede decir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3383280"/>
            <a:ext cx="914400" cy="5486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429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42"/>
                </a:solidFill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BBCC"/>
                </a:solidFill>
              </a:rPr>
              <a:t>Hoy forzamos a la IA a hablar en emojis. POLYDIM le devuelve el gesto.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POLYDIM tiene solo 4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BBCC"/>
                </a:solidFill>
              </a:rPr>
              <a:t>(como la suma, resta, multiplicación y división — pero para 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651760" cy="438912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Encadenar ideas
como eslabones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651760" cy="4389120"/>
          </a:xfrm>
          <a:prstGeom prst="rect">
            <a:avLst/>
          </a:prstGeom>
          <a:solidFill>
            <a:srgbClr val="2E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632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Mezclar opciones
sin descartar nada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651760" cy="4389120"/>
          </a:xfrm>
          <a:prstGeom prst="rect">
            <a:avLst/>
          </a:prstGeom>
          <a:solidFill>
            <a:srgbClr val="7D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FIXPOINT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Iterar hasta
llegar a una 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554480"/>
            <a:ext cx="2651760" cy="4389120"/>
          </a:xfrm>
          <a:prstGeom prst="rect">
            <a:avLst/>
          </a:prstGeom>
          <a:solidFill>
            <a:srgbClr val="5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91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632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Traducir a código
SQL, Rust, Flutter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C542"/>
                </a:solidFill>
              </a:rPr>
              <a:t>Con estas 4 operaciones, una IA puede programar a otra IA sin pasar por 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Los números hablan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86400" cy="219456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542"/>
                </a:solidFill>
              </a:rPr>
              <a:t>40.000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bits de información
en un estado interno de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542"/>
                </a:solidFill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3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bits de información
en una palabra de 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79"/>
            <a:ext cx="5486400" cy="219456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1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542"/>
                </a:solidFill>
              </a:rPr>
              <a:t>2.667×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más información
sin POLYDIM se pierde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840479"/>
            <a:ext cx="5486400" cy="219456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1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542"/>
                </a:solidFill>
              </a:rPr>
              <a:t>24×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AFF"/>
                </a:solidFill>
              </a:rPr>
              <a:t>más rápido cuando
las IAs se hablan directo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BBCC"/>
                </a:solidFill>
              </a:rPr>
              <a:t>Fuente: Interlat [Du et al., 2025] — AAAI 2026  ·  LatentMAS [ICML 2026 Spotlight]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¿Por qué ahora? ¿Por qué POLYDIM?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338560" cy="5029200"/>
          </a:xfrm>
          <a:prstGeom prst="rect">
            <a:avLst/>
          </a:prstGeom>
          <a:solidFill>
            <a:srgbClr val="0E0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↑ Más formal / riguroso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→ Más geométrico / continuo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029200"/>
            <a:ext cx="1645920" cy="82296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5074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2122E"/>
                </a:solidFill>
              </a:rPr>
              <a:t>PyTorch
TensorFlow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840480"/>
            <a:ext cx="1645920" cy="82296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38862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2122E"/>
                </a:solidFill>
              </a:rPr>
              <a:t>MCP / A2A
(texto JSON)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754880"/>
            <a:ext cx="1645920" cy="822960"/>
          </a:xfrm>
          <a:prstGeom prst="rect">
            <a:avLst/>
          </a:prstGeom>
          <a:solidFill>
            <a:srgbClr val="88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800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2122E"/>
                </a:solidFill>
              </a:rPr>
              <a:t>Interlat
(empírico)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1645920" cy="822960"/>
          </a:xfrm>
          <a:prstGeom prst="rect">
            <a:avLst/>
          </a:prstGeom>
          <a:solidFill>
            <a:srgbClr val="88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4348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2122E"/>
                </a:solidFill>
              </a:rPr>
              <a:t>LatentMAS
(empírico)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011680"/>
            <a:ext cx="1645920" cy="822960"/>
          </a:xfrm>
          <a:prstGeom prst="rect">
            <a:avLst/>
          </a:prstGeom>
          <a:solidFill>
            <a:srgbClr val="AA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057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2122E"/>
                </a:solidFill>
              </a:rPr>
              <a:t>NeSyCat
(formal, discreto)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2560320" cy="11887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417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122E"/>
                </a:solidFill>
              </a:rPr>
              <a:t>POLYDIM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2122E"/>
                </a:solidFill>
              </a:rPr>
              <a:t>formal + geométrico
= nadie más aquí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42"/>
                </a:solidFill>
              </a:rPr>
              <a:t>★  POLYDIM ocupa un espacio que ningún otro proyecto existe.  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No es una idea — ya existe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258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29/29 pruebas automáticas
pasan sin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Prototipo Python V0.3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3258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+64,5% mejora semántica
sobre el método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391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Medido empíricamente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632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VM (máquina virtual) en Rust
sin dependencias externas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Compilable a WebAssembly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0632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4 teoremas matemáticos
probados incondicionalmente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764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Fundamentos sólidos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006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Paper completo publicable
en Zenodo / arXiv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1383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Listo para la comunidad científica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09160"/>
            <a:ext cx="5577840" cy="1463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93776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8006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Licencia abierta
CC BY 4.0 + 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51383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Libre para todos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¿Para quién es POLYDIM?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669280" cy="219456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325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Investigadores
académicos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AFF"/>
                </a:solidFill>
              </a:rPr>
              <a:t>Primer lenguaje formal con
semántica geométrica para LLMs.
Target: SPLASH / POPL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669280" cy="219456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Empresas de
Inteligencia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AFF"/>
                </a:solidFill>
              </a:rPr>
              <a:t>Infraestructura para sistemas
multi-agente más rápidos y
menos costosos.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669280" cy="219456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👨‍💻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Desarrolladores
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480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AFF"/>
                </a:solidFill>
              </a:rPr>
              <a:t>Un IR (representación intermedia)
universal: de geometría a
Rust, SQL, Flutter.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5669280" cy="219456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7947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Educadores y
estudiantes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480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AFF"/>
                </a:solidFill>
              </a:rPr>
              <a:t>Nueva forma de pensar la
programación más allá del
paradigma de von Neumann.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Hoja de ruta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828800" cy="65836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280160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371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Paper publicado · GitHub abierto · VM Rust V0.1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84831"/>
            <a:ext cx="1828800" cy="658368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30551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Mes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084831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762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Zenodo DOI · arXiv cs.PL · OSF Preprints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9504"/>
            <a:ext cx="1828800" cy="658368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935224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Mes 2–3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889504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98094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Feedback comunidad · Workshop SPLASH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94176"/>
            <a:ext cx="1828800" cy="658368"/>
          </a:xfrm>
          <a:prstGeom prst="rect">
            <a:avLst/>
          </a:prstGeom>
          <a:solidFill>
            <a:srgbClr val="2E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3989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Mes 3–6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694176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785615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Implementación real con modelo HuggingFace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98848"/>
            <a:ext cx="1828800" cy="658368"/>
          </a:xfrm>
          <a:prstGeom prst="rect">
            <a:avLst/>
          </a:prstGeom>
          <a:solidFill>
            <a:srgbClr val="2E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4456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Mes 6–12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498848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45902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Paper empírico · Colaboración académica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03520"/>
            <a:ext cx="1828800" cy="658368"/>
          </a:xfrm>
          <a:prstGeom prst="rect">
            <a:avLst/>
          </a:prstGeom>
          <a:solidFill>
            <a:srgbClr val="5E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4924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2E"/>
                </a:solidFill>
              </a:rPr>
              <a:t>Largo plazo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303520"/>
            <a:ext cx="9326880" cy="658368"/>
          </a:xfrm>
          <a:prstGeom prst="rect">
            <a:avLst/>
          </a:prstGeom>
          <a:solidFill>
            <a:srgbClr val="161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394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POLYDIM como estándar de comunicación IA↔IA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12188952" cy="365760"/>
          </a:xfrm>
          <a:prstGeom prst="rect">
            <a:avLst/>
          </a:prstGeom>
          <a:solidFill>
            <a:srgbClr val="15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2188952" cy="365760"/>
          </a:xfrm>
          <a:prstGeom prst="rect">
            <a:avLst/>
          </a:prstGeom>
          <a:solidFill>
            <a:srgbClr val="1B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12188952" cy="365760"/>
          </a:xfrm>
          <a:prstGeom prst="rect">
            <a:avLst/>
          </a:prstGeom>
          <a:solidFill>
            <a:srgbClr val="21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12188952" cy="365760"/>
          </a:xfrm>
          <a:prstGeom prst="rect">
            <a:avLst/>
          </a:prstGeom>
          <a:solidFill>
            <a:srgbClr val="24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12188952" cy="365760"/>
          </a:xfrm>
          <a:prstGeom prst="rect">
            <a:avLst/>
          </a:prstGeom>
          <a:solidFill>
            <a:srgbClr val="27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12188952" cy="365760"/>
          </a:xfrm>
          <a:prstGeom prst="rect">
            <a:avLst/>
          </a:prstGeom>
          <a:solidFill>
            <a:srgbClr val="2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12188952" cy="365760"/>
          </a:xfrm>
          <a:prstGeom prst="rect">
            <a:avLst/>
          </a:prstGeom>
          <a:solidFill>
            <a:srgbClr val="2D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12188952" cy="365760"/>
          </a:xfrm>
          <a:prstGeom prst="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12188952" cy="365760"/>
          </a:xfrm>
          <a:prstGeom prst="rect">
            <a:avLst/>
          </a:prstGeom>
          <a:solidFill>
            <a:srgbClr val="333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solidFill>
            <a:srgbClr val="363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12188952" cy="365760"/>
          </a:xfrm>
          <a:prstGeom prst="rect">
            <a:avLst/>
          </a:prstGeom>
          <a:solidFill>
            <a:srgbClr val="393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solidFill>
            <a:srgbClr val="3C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12188952" cy="365760"/>
          </a:xfrm>
          <a:prstGeom prst="rect">
            <a:avLst/>
          </a:prstGeom>
          <a:solidFill>
            <a:srgbClr val="3F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solidFill>
            <a:srgbClr val="42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88952" cy="365760"/>
          </a:xfrm>
          <a:prstGeom prst="rect">
            <a:avLst/>
          </a:prstGeom>
          <a:solidFill>
            <a:srgbClr val="45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48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12188952" cy="365760"/>
          </a:xfrm>
          <a:prstGeom prst="rect">
            <a:avLst/>
          </a:prstGeom>
          <a:solidFill>
            <a:srgbClr val="4B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5E6AD2"/>
                </a:solidFill>
              </a:rPr>
              <a:t>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El lenguaje ensamblador no inventó el transistor.
Lo hizo programable.
POLYDIM no inventa el transformer.
Lo hace programable.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C542"/>
                </a:solidFill>
              </a:rPr>
              <a:t>— Ariel H. Garcia Traba,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5212080"/>
            <a:ext cx="5760720" cy="36576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EAFF"/>
                </a:solidFill>
              </a:rPr>
              <a:t>POLYDIM es el lenguaje ensamblador de la era del transformer.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Seguí 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737360"/>
          </a:xfrm>
          <a:prstGeom prst="rect">
            <a:avLst/>
          </a:prstGeom>
          <a:solidFill>
            <a:srgbClr val="16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Paper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Zenodo (DOI pendiente)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1737360"/>
          </a:xfrm>
          <a:prstGeom prst="rect">
            <a:avLst/>
          </a:prstGeom>
          <a:solidFill>
            <a:srgbClr val="16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Código fuente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github.com/AGT1973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86400" cy="1737360"/>
          </a:xfrm>
          <a:prstGeom prst="rect">
            <a:avLst/>
          </a:prstGeom>
          <a:solidFill>
            <a:srgbClr val="16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69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ariel.garcia.traba@gmail.com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83280"/>
            <a:ext cx="5486400" cy="1737360"/>
          </a:xfrm>
          <a:prstGeom prst="rect">
            <a:avLst/>
          </a:prstGeom>
          <a:solidFill>
            <a:srgbClr val="16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42"/>
                </a:solidFill>
              </a:rPr>
              <a:t>ORCID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69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AFF"/>
                </a:solidFill>
              </a:rPr>
              <a:t>0009-0001-2787-6067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POLYDIM · Ariel H. Garcia Traba · Buenos Aires, Argentina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